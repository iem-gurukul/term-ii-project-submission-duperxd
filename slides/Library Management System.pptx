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49BF5-A0B0-44C8-8FBA-90D5F7A94510}" type="datetimeFigureOut">
              <a:rPr lang="en-IN" smtClean="0"/>
              <a:t>08-03-2026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C39BB-4979-475C-894D-2FC6428E26B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31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C39BB-4979-475C-894D-2FC6428E26B5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09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5248E-B6F3-53F0-CC58-6B2BFDB05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232" y="0"/>
            <a:ext cx="8915399" cy="2262781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5"/>
            </a:solidFill>
          </a:ln>
          <a:effectLst/>
        </p:spPr>
        <p:txBody>
          <a:bodyPr/>
          <a:lstStyle/>
          <a:p>
            <a:r>
              <a:rPr lang="en-US" u="sng" dirty="0"/>
              <a:t>Library Management System</a:t>
            </a:r>
            <a:endParaRPr lang="en-IN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CBBE1A-2D56-8682-E5A8-22566E37D1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56262" y="2997302"/>
            <a:ext cx="832651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Name: ROHIL KUMAR 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 Number: 85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4000" dirty="0">
                <a:solidFill>
                  <a:schemeClr val="tx1"/>
                </a:solidFill>
                <a:latin typeface="Arial" panose="020B0604020202020204" pitchFamily="34" charset="0"/>
              </a:rPr>
              <a:t>Stream : CSE IOT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 / Subject : OOP</a:t>
            </a:r>
          </a:p>
        </p:txBody>
      </p:sp>
    </p:spTree>
    <p:extLst>
      <p:ext uri="{BB962C8B-B14F-4D97-AF65-F5344CB8AC3E}">
        <p14:creationId xmlns:p14="http://schemas.microsoft.com/office/powerpoint/2010/main" val="264636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6AFC-B45F-D25D-6BAE-3C5CC6C1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344" y="614278"/>
            <a:ext cx="8911687" cy="1280890"/>
          </a:xfrm>
        </p:spPr>
        <p:txBody>
          <a:bodyPr/>
          <a:lstStyle/>
          <a:p>
            <a:r>
              <a:rPr lang="en-US" u="sng" dirty="0"/>
              <a:t>INTRODUCTION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4E18-72C7-6644-29ED-81B66F831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256" y="1740310"/>
            <a:ext cx="8915400" cy="3777622"/>
          </a:xfrm>
        </p:spPr>
        <p:txBody>
          <a:bodyPr/>
          <a:lstStyle/>
          <a:p>
            <a:r>
              <a:rPr lang="en-US" sz="2400" dirty="0"/>
              <a:t>Libraries require efficient management of books and members.</a:t>
            </a:r>
          </a:p>
          <a:p>
            <a:r>
              <a:rPr lang="en-US" sz="2400" dirty="0"/>
              <a:t>Manual systems are time-consuming and prone to errors.</a:t>
            </a:r>
          </a:p>
          <a:p>
            <a:r>
              <a:rPr lang="en-US" sz="2400" dirty="0"/>
              <a:t>A digital solution can automate book issuing, returning, and record maintenance.</a:t>
            </a:r>
          </a:p>
          <a:p>
            <a:r>
              <a:rPr lang="en-US" sz="2400" dirty="0"/>
              <a:t>This project implements a </a:t>
            </a:r>
            <a:r>
              <a:rPr lang="en-US" sz="2400" b="1" dirty="0"/>
              <a:t>console-based Library Management System using Java and OOP principles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21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649B-053D-E109-F0C5-A83AFAEB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841" y="584781"/>
            <a:ext cx="8911687" cy="1280890"/>
          </a:xfrm>
        </p:spPr>
        <p:txBody>
          <a:bodyPr/>
          <a:lstStyle/>
          <a:p>
            <a:r>
              <a:rPr lang="en-US" u="sng" dirty="0"/>
              <a:t>PROBLEM STATEMENT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0CBC-D416-EFE1-EB90-D81E211BC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186" y="1671484"/>
            <a:ext cx="8915400" cy="3777622"/>
          </a:xfrm>
        </p:spPr>
        <p:txBody>
          <a:bodyPr/>
          <a:lstStyle/>
          <a:p>
            <a:r>
              <a:rPr lang="en-US" sz="2400" dirty="0"/>
              <a:t>Manual record keeping leads to:</a:t>
            </a:r>
          </a:p>
          <a:p>
            <a:pPr lvl="1"/>
            <a:r>
              <a:rPr lang="en-US" sz="2400" dirty="0"/>
              <a:t>Data inconsistencies</a:t>
            </a:r>
          </a:p>
          <a:p>
            <a:pPr lvl="1"/>
            <a:r>
              <a:rPr lang="en-US" sz="2400" dirty="0"/>
              <a:t>Difficulty tracking issued books</a:t>
            </a:r>
          </a:p>
          <a:p>
            <a:pPr lvl="1"/>
            <a:r>
              <a:rPr lang="en-US" sz="2400" dirty="0"/>
              <a:t>Inefficient member management</a:t>
            </a:r>
          </a:p>
          <a:p>
            <a:r>
              <a:rPr lang="en-US" sz="2400" dirty="0"/>
              <a:t>There is a need for a </a:t>
            </a:r>
            <a:r>
              <a:rPr lang="en-US" sz="2400" b="1" dirty="0"/>
              <a:t>structured software system</a:t>
            </a:r>
            <a:r>
              <a:rPr lang="en-US" sz="2400" dirty="0"/>
              <a:t> to manage books and members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841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253C-8503-2EB6-816C-2E64A004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55284"/>
            <a:ext cx="8911687" cy="1280890"/>
          </a:xfrm>
        </p:spPr>
        <p:txBody>
          <a:bodyPr/>
          <a:lstStyle/>
          <a:p>
            <a:r>
              <a:rPr lang="en-US" u="sng" dirty="0"/>
              <a:t>OBJECTIVES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1E31E-1A0E-FF24-A74E-BD9B74E76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541" y="1671484"/>
            <a:ext cx="8915400" cy="3777622"/>
          </a:xfrm>
        </p:spPr>
        <p:txBody>
          <a:bodyPr/>
          <a:lstStyle/>
          <a:p>
            <a:r>
              <a:rPr lang="en-US" sz="2400" dirty="0"/>
              <a:t>Automate library operations.</a:t>
            </a:r>
          </a:p>
          <a:p>
            <a:r>
              <a:rPr lang="en-US" sz="2400" dirty="0"/>
              <a:t>Maintain records of books and members.</a:t>
            </a:r>
          </a:p>
          <a:p>
            <a:r>
              <a:rPr lang="en-US" sz="2400" dirty="0"/>
              <a:t>Implement Object-Oriented Programming concepts.</a:t>
            </a:r>
          </a:p>
          <a:p>
            <a:r>
              <a:rPr lang="en-US" sz="2400" dirty="0"/>
              <a:t>Provide a menu-driven system for user interaction.</a:t>
            </a:r>
          </a:p>
          <a:p>
            <a:r>
              <a:rPr lang="en-US" sz="2400" dirty="0"/>
              <a:t>Ensure efficient data management using Java collections.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1146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3B0F5-42BB-6C76-D34A-171729D0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35620"/>
            <a:ext cx="8911687" cy="1280890"/>
          </a:xfrm>
        </p:spPr>
        <p:txBody>
          <a:bodyPr/>
          <a:lstStyle/>
          <a:p>
            <a:r>
              <a:rPr lang="en-US" u="sng" dirty="0"/>
              <a:t>TECHNOLOGIES USED</a:t>
            </a:r>
            <a:endParaRPr lang="en-IN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79240A-B16D-BD94-A94F-568CEB259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2005781"/>
            <a:ext cx="8915400" cy="3777622"/>
          </a:xfrm>
        </p:spPr>
        <p:txBody>
          <a:bodyPr/>
          <a:lstStyle/>
          <a:p>
            <a:r>
              <a:rPr lang="en-IN" sz="2400" b="1" dirty="0"/>
              <a:t>Java</a:t>
            </a:r>
            <a:endParaRPr lang="en-IN" sz="2400" dirty="0"/>
          </a:p>
          <a:p>
            <a:r>
              <a:rPr lang="en-IN" sz="2400" b="1" dirty="0"/>
              <a:t>IntelliJ IDEA / VS Code</a:t>
            </a:r>
            <a:endParaRPr lang="en-IN" sz="2400" dirty="0"/>
          </a:p>
          <a:p>
            <a:r>
              <a:rPr lang="en-IN" sz="2400" b="1" dirty="0"/>
              <a:t>Git &amp; GitHub</a:t>
            </a:r>
            <a:endParaRPr lang="en-IN" sz="2400" dirty="0"/>
          </a:p>
          <a:p>
            <a:r>
              <a:rPr lang="en-IN" sz="2400" b="1" dirty="0"/>
              <a:t>Java Collections Framework</a:t>
            </a:r>
            <a:endParaRPr lang="en-IN" sz="2400" dirty="0"/>
          </a:p>
          <a:p>
            <a:r>
              <a:rPr lang="en-IN" sz="2400" b="1" dirty="0"/>
              <a:t>Exception Handling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023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69CF-03AC-2A36-258F-5F748208C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07800"/>
            <a:ext cx="8911687" cy="1280890"/>
          </a:xfrm>
        </p:spPr>
        <p:txBody>
          <a:bodyPr/>
          <a:lstStyle/>
          <a:p>
            <a:r>
              <a:rPr lang="en-US" u="sng" dirty="0"/>
              <a:t>SYSTEM ARCHITECTURE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BF67F-3DAC-5D68-3D67-EBAD629E3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676" y="1966452"/>
            <a:ext cx="8915400" cy="3777622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The system is divided into four layers:</a:t>
            </a:r>
          </a:p>
          <a:p>
            <a:r>
              <a:rPr lang="en-US" sz="7200" b="1" dirty="0"/>
              <a:t>Model Layer</a:t>
            </a:r>
            <a:endParaRPr lang="en-US" sz="7200" dirty="0"/>
          </a:p>
          <a:p>
            <a:pPr lvl="1"/>
            <a:r>
              <a:rPr lang="en-US" sz="7200" dirty="0"/>
              <a:t>Book</a:t>
            </a:r>
          </a:p>
          <a:p>
            <a:pPr lvl="1"/>
            <a:r>
              <a:rPr lang="en-US" sz="7200" dirty="0"/>
              <a:t>Member</a:t>
            </a:r>
          </a:p>
          <a:p>
            <a:pPr lvl="1"/>
            <a:r>
              <a:rPr lang="en-US" sz="7200" dirty="0"/>
              <a:t>StudentMember</a:t>
            </a:r>
          </a:p>
          <a:p>
            <a:pPr lvl="1"/>
            <a:r>
              <a:rPr lang="en-US" sz="7200" dirty="0"/>
              <a:t>FacultyMember</a:t>
            </a:r>
          </a:p>
          <a:p>
            <a:r>
              <a:rPr lang="en-US" sz="7200" b="1" dirty="0"/>
              <a:t>Service Layer</a:t>
            </a:r>
            <a:endParaRPr lang="en-US" sz="7200" dirty="0"/>
          </a:p>
          <a:p>
            <a:pPr lvl="1"/>
            <a:r>
              <a:rPr lang="en-US" sz="7200" dirty="0"/>
              <a:t>LibraryService</a:t>
            </a:r>
          </a:p>
          <a:p>
            <a:r>
              <a:rPr lang="en-US" sz="7200" b="1" dirty="0"/>
              <a:t>Exception Layer</a:t>
            </a:r>
            <a:endParaRPr lang="en-US" sz="7200" dirty="0"/>
          </a:p>
          <a:p>
            <a:pPr lvl="1"/>
            <a:r>
              <a:rPr lang="en-US" sz="7200" dirty="0"/>
              <a:t>Custom exceptions</a:t>
            </a:r>
          </a:p>
          <a:p>
            <a:r>
              <a:rPr lang="en-US" sz="7200" b="1" dirty="0"/>
              <a:t>Application Layer</a:t>
            </a:r>
            <a:endParaRPr lang="en-US" sz="7200" dirty="0"/>
          </a:p>
          <a:p>
            <a:pPr lvl="1"/>
            <a:r>
              <a:rPr lang="en-US" sz="7200" dirty="0"/>
              <a:t>LibraryApp (Main class)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6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3E07-9879-AC6F-5BD0-3D2DF4F7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74728"/>
            <a:ext cx="8911687" cy="1280890"/>
          </a:xfrm>
        </p:spPr>
        <p:txBody>
          <a:bodyPr/>
          <a:lstStyle/>
          <a:p>
            <a:r>
              <a:rPr lang="en-US" u="sng" dirty="0"/>
              <a:t>UML CLASS DIAGRAM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21F606-A039-85A2-1772-497AB6BF4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377" y="1570703"/>
            <a:ext cx="7839101" cy="451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4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DBC-AFED-F75D-F91B-5959551F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842" y="643775"/>
            <a:ext cx="8911687" cy="1280890"/>
          </a:xfrm>
        </p:spPr>
        <p:txBody>
          <a:bodyPr/>
          <a:lstStyle/>
          <a:p>
            <a:r>
              <a:rPr lang="en-US" u="sng" dirty="0"/>
              <a:t>OOPS CONCEPTS USED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6703E-6CF8-25E7-FE04-E523C43C1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471" y="1671484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en-IN" sz="2400" b="1" dirty="0"/>
              <a:t>Abstraction</a:t>
            </a:r>
            <a:endParaRPr lang="en-IN" sz="2400" dirty="0"/>
          </a:p>
          <a:p>
            <a:r>
              <a:rPr lang="en-IN" sz="2400" dirty="0"/>
              <a:t>Abstract class Member.</a:t>
            </a:r>
          </a:p>
          <a:p>
            <a:r>
              <a:rPr lang="en-IN" sz="2400" b="1" dirty="0"/>
              <a:t>Inheritance</a:t>
            </a:r>
            <a:endParaRPr lang="en-IN" sz="2400" dirty="0"/>
          </a:p>
          <a:p>
            <a:r>
              <a:rPr lang="en-IN" sz="2400" dirty="0"/>
              <a:t>StudentMember and FacultyMember extend Member.</a:t>
            </a:r>
          </a:p>
          <a:p>
            <a:r>
              <a:rPr lang="en-IN" sz="2400" b="1" dirty="0"/>
              <a:t>Polymorphism</a:t>
            </a:r>
            <a:endParaRPr lang="en-IN" sz="2400" dirty="0"/>
          </a:p>
          <a:p>
            <a:r>
              <a:rPr lang="en-IN" sz="2400" dirty="0"/>
              <a:t>getBorrowLimit() overridden in subclasses.</a:t>
            </a:r>
          </a:p>
          <a:p>
            <a:r>
              <a:rPr lang="en-IN" sz="2400" b="1" dirty="0"/>
              <a:t>Encapsulation</a:t>
            </a:r>
            <a:endParaRPr lang="en-IN" sz="2400" dirty="0"/>
          </a:p>
          <a:p>
            <a:r>
              <a:rPr lang="en-IN" sz="2400" dirty="0"/>
              <a:t>Private variables with controlled access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006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9320-A460-2A9A-D1F9-279CC6388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8" y="515955"/>
            <a:ext cx="8911687" cy="1280890"/>
          </a:xfrm>
        </p:spPr>
        <p:txBody>
          <a:bodyPr/>
          <a:lstStyle/>
          <a:p>
            <a:r>
              <a:rPr lang="en-US" u="sng" dirty="0"/>
              <a:t>DATA STRUCTURES: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CE3E1-0E3F-8B30-5E68-DFB08B1DC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458" y="2212258"/>
            <a:ext cx="8915400" cy="3777622"/>
          </a:xfrm>
        </p:spPr>
        <p:txBody>
          <a:bodyPr/>
          <a:lstStyle/>
          <a:p>
            <a:r>
              <a:rPr lang="en-IN" sz="2400" b="1" dirty="0"/>
              <a:t>HashMap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HashMap&lt;Integer, Book&gt;</a:t>
            </a:r>
            <a:br>
              <a:rPr lang="en-IN" sz="2400" dirty="0"/>
            </a:br>
            <a:r>
              <a:rPr lang="en-IN" sz="2400" dirty="0"/>
              <a:t>HashMap&lt;Integer, Member&gt;</a:t>
            </a:r>
          </a:p>
          <a:p>
            <a:pPr marL="0" indent="0">
              <a:buNone/>
            </a:pPr>
            <a:r>
              <a:rPr lang="nn-NO" sz="2400" dirty="0"/>
              <a:t>Used for fast data retrieval.</a:t>
            </a:r>
          </a:p>
          <a:p>
            <a:r>
              <a:rPr lang="en-US" sz="2400" b="1" dirty="0"/>
              <a:t>ArrayList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List&lt;Book&gt; borrowedBooks</a:t>
            </a:r>
          </a:p>
          <a:p>
            <a:pPr marL="0" indent="0">
              <a:buNone/>
            </a:pPr>
            <a:r>
              <a:rPr lang="en-US" sz="2400" dirty="0"/>
              <a:t>Stores books borrowed by a member.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8184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3BB9-09C5-EB00-D7EB-25B3903F8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6291"/>
            <a:ext cx="8911687" cy="1280890"/>
          </a:xfrm>
        </p:spPr>
        <p:txBody>
          <a:bodyPr/>
          <a:lstStyle/>
          <a:p>
            <a:r>
              <a:rPr lang="en-US" u="sng" dirty="0"/>
              <a:t>EXCEPTION HANDLING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767EB-7136-EC7A-851E-23DA1AAC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192" y="1777181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Custom exceptions used:</a:t>
            </a:r>
          </a:p>
          <a:p>
            <a:pPr marL="0" indent="0">
              <a:buNone/>
            </a:pPr>
            <a:r>
              <a:rPr lang="en-US" sz="2400" dirty="0"/>
              <a:t>BookNotFoundException</a:t>
            </a:r>
          </a:p>
          <a:p>
            <a:pPr marL="0" indent="0">
              <a:buNone/>
            </a:pPr>
            <a:r>
              <a:rPr lang="en-US" sz="2400" dirty="0"/>
              <a:t>MemberNotFoundException</a:t>
            </a:r>
          </a:p>
          <a:p>
            <a:pPr marL="0" indent="0">
              <a:buNone/>
            </a:pPr>
            <a:r>
              <a:rPr lang="en-US" sz="2400" dirty="0"/>
              <a:t>BookUnavailableException</a:t>
            </a:r>
          </a:p>
          <a:p>
            <a:r>
              <a:rPr lang="en-US" sz="2400" dirty="0"/>
              <a:t>Purpose:</a:t>
            </a:r>
          </a:p>
          <a:p>
            <a:pPr marL="0" indent="0">
              <a:buNone/>
            </a:pPr>
            <a:r>
              <a:rPr lang="en-US" sz="2400" dirty="0"/>
              <a:t>Prevent invalid operations</a:t>
            </a:r>
          </a:p>
          <a:p>
            <a:pPr marL="0" indent="0">
              <a:buNone/>
            </a:pPr>
            <a:r>
              <a:rPr lang="en-US" sz="2400" dirty="0"/>
              <a:t>Improve program stability</a:t>
            </a:r>
          </a:p>
          <a:p>
            <a:pPr marL="0" indent="0">
              <a:buNone/>
            </a:pPr>
            <a:r>
              <a:rPr lang="en-US" sz="2400" dirty="0"/>
              <a:t>Provide clear error messages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30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FE6C-2A73-E783-C772-DF4A720E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4614"/>
            <a:ext cx="8911687" cy="1280890"/>
          </a:xfrm>
        </p:spPr>
        <p:txBody>
          <a:bodyPr/>
          <a:lstStyle/>
          <a:p>
            <a:r>
              <a:rPr lang="en-US" u="sng" dirty="0"/>
              <a:t>PROGRAM WORKFLOW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D9E60-5F5F-B107-8B72-5006716B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696" y="2005781"/>
            <a:ext cx="8915400" cy="3777622"/>
          </a:xfrm>
        </p:spPr>
        <p:txBody>
          <a:bodyPr/>
          <a:lstStyle/>
          <a:p>
            <a:r>
              <a:rPr lang="en-US" sz="2800" dirty="0"/>
              <a:t>User runs the program.</a:t>
            </a:r>
          </a:p>
          <a:p>
            <a:r>
              <a:rPr lang="en-US" sz="2800" dirty="0"/>
              <a:t>Menu options are displayed.</a:t>
            </a:r>
          </a:p>
          <a:p>
            <a:r>
              <a:rPr lang="en-US" sz="2800" dirty="0"/>
              <a:t>User selects an operation.</a:t>
            </a:r>
          </a:p>
          <a:p>
            <a:r>
              <a:rPr lang="en-US" sz="2800" dirty="0"/>
              <a:t>System processes request using LibraryService.</a:t>
            </a:r>
          </a:p>
          <a:p>
            <a:r>
              <a:rPr lang="en-US" sz="2800" dirty="0"/>
              <a:t>Books and members are stored in collections.</a:t>
            </a:r>
          </a:p>
          <a:p>
            <a:r>
              <a:rPr lang="en-US" sz="2800" dirty="0"/>
              <a:t>Errors handled using exceptions.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642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159A-6A35-52BE-2BA2-A9FBE257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24320"/>
            <a:ext cx="8911687" cy="1280890"/>
          </a:xfrm>
        </p:spPr>
        <p:txBody>
          <a:bodyPr/>
          <a:lstStyle/>
          <a:p>
            <a:r>
              <a:rPr lang="en-US" u="sng" dirty="0"/>
              <a:t>FUTURE IMPROVEMENTS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FEEFC-AFB2-390A-D326-C8A6E6630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006" y="2015613"/>
            <a:ext cx="8915400" cy="3777622"/>
          </a:xfrm>
        </p:spPr>
        <p:txBody>
          <a:bodyPr/>
          <a:lstStyle/>
          <a:p>
            <a:r>
              <a:rPr lang="en-IN" sz="2800" dirty="0"/>
              <a:t>Add file-based data persistence</a:t>
            </a:r>
          </a:p>
          <a:p>
            <a:r>
              <a:rPr lang="en-IN" sz="2800" dirty="0"/>
              <a:t>Integrate database (MySQL)</a:t>
            </a:r>
          </a:p>
          <a:p>
            <a:r>
              <a:rPr lang="en-IN" sz="2800" dirty="0"/>
              <a:t>Implement graphical user interface (GUI)</a:t>
            </a:r>
          </a:p>
          <a:p>
            <a:r>
              <a:rPr lang="en-IN" sz="2800" dirty="0"/>
              <a:t>Add book search functionality</a:t>
            </a:r>
          </a:p>
          <a:p>
            <a:r>
              <a:rPr lang="en-IN" sz="2800" dirty="0"/>
              <a:t>Implement fine calculation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96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6187-255C-2C89-4F25-BB57AC54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45452"/>
            <a:ext cx="8911687" cy="1280890"/>
          </a:xfrm>
        </p:spPr>
        <p:txBody>
          <a:bodyPr/>
          <a:lstStyle/>
          <a:p>
            <a:r>
              <a:rPr lang="en-US" u="sng" dirty="0"/>
              <a:t>CONCLUSION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ECC91-6A2B-C30A-87C1-B63CFFEC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844" y="1826342"/>
            <a:ext cx="8915400" cy="3777622"/>
          </a:xfrm>
        </p:spPr>
        <p:txBody>
          <a:bodyPr/>
          <a:lstStyle/>
          <a:p>
            <a:r>
              <a:rPr lang="en-US" sz="2800" dirty="0"/>
              <a:t>The project demonstrates practical use of </a:t>
            </a:r>
            <a:r>
              <a:rPr lang="en-US" sz="2800" b="1" dirty="0"/>
              <a:t>Object-Oriented Programming concepts in Java</a:t>
            </a:r>
            <a:r>
              <a:rPr lang="en-US" sz="2800" dirty="0"/>
              <a:t>.</a:t>
            </a:r>
          </a:p>
          <a:p>
            <a:r>
              <a:rPr lang="en-US" sz="2800" dirty="0"/>
              <a:t>The system automates library operations and improves record management.</a:t>
            </a:r>
          </a:p>
          <a:p>
            <a:r>
              <a:rPr lang="en-US" sz="2800" dirty="0"/>
              <a:t>Modular design allows future scalability and feature expansion.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7560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</TotalTime>
  <Words>366</Words>
  <Application>Microsoft Office PowerPoint</Application>
  <PresentationFormat>Widescreen</PresentationFormat>
  <Paragraphs>85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Wisp</vt:lpstr>
      <vt:lpstr>Library Management System</vt:lpstr>
      <vt:lpstr>INTRODUCTION</vt:lpstr>
      <vt:lpstr>PROBLEM STATEMENT</vt:lpstr>
      <vt:lpstr>OBJECTIVES</vt:lpstr>
      <vt:lpstr>TECHNOLOGIES USED</vt:lpstr>
      <vt:lpstr>SYSTEM ARCHITECTURE</vt:lpstr>
      <vt:lpstr>UML CLASS DIAGRAM</vt:lpstr>
      <vt:lpstr>OOPS CONCEPTS USED</vt:lpstr>
      <vt:lpstr>DATA STRUCTURES:</vt:lpstr>
      <vt:lpstr>EXCEPTION HANDLING</vt:lpstr>
      <vt:lpstr>PROGRAM WORKFLOW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Rohil Kumar De</dc:creator>
  <cp:lastModifiedBy>Rohil Kumar De</cp:lastModifiedBy>
  <cp:revision>3</cp:revision>
  <dcterms:created xsi:type="dcterms:W3CDTF">2026-03-08T10:10:40Z</dcterms:created>
  <dcterms:modified xsi:type="dcterms:W3CDTF">2026-03-08T10:33:04Z</dcterms:modified>
</cp:coreProperties>
</file>